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7"/>
  </p:notesMasterIdLst>
  <p:sldIdLst>
    <p:sldId id="291" r:id="rId3"/>
    <p:sldId id="299" r:id="rId4"/>
    <p:sldId id="297" r:id="rId5"/>
    <p:sldId id="281" r:id="rId6"/>
    <p:sldId id="290" r:id="rId8"/>
    <p:sldId id="308" r:id="rId9"/>
    <p:sldId id="306" r:id="rId10"/>
    <p:sldId id="307" r:id="rId11"/>
    <p:sldId id="309" r:id="rId12"/>
    <p:sldId id="304" r:id="rId13"/>
    <p:sldId id="310" r:id="rId14"/>
    <p:sldId id="296" r:id="rId15"/>
    <p:sldId id="305" r:id="rId16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1" userDrawn="1">
          <p15:clr>
            <a:srgbClr val="A4A3A4"/>
          </p15:clr>
        </p15:guide>
        <p15:guide id="2" pos="37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A1D1"/>
    <a:srgbClr val="39B0D4"/>
    <a:srgbClr val="26B5CA"/>
    <a:srgbClr val="15B3DB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82"/>
      </p:cViewPr>
      <p:guideLst>
        <p:guide orient="horz" pos="1981"/>
        <p:guide pos="376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2" Type="http://schemas.openxmlformats.org/officeDocument/2006/relationships/slideLayout" Target="../slideLayouts/slideLayout2.xml"/><Relationship Id="rId21" Type="http://schemas.openxmlformats.org/officeDocument/2006/relationships/image" Target="../media/image28.png"/><Relationship Id="rId20" Type="http://schemas.openxmlformats.org/officeDocument/2006/relationships/tags" Target="../tags/tag15.xml"/><Relationship Id="rId2" Type="http://schemas.openxmlformats.org/officeDocument/2006/relationships/tags" Target="../tags/tag3.xml"/><Relationship Id="rId19" Type="http://schemas.openxmlformats.org/officeDocument/2006/relationships/image" Target="../media/image27.png"/><Relationship Id="rId18" Type="http://schemas.openxmlformats.org/officeDocument/2006/relationships/tags" Target="../tags/tag14.xml"/><Relationship Id="rId17" Type="http://schemas.openxmlformats.org/officeDocument/2006/relationships/image" Target="../media/image26.png"/><Relationship Id="rId16" Type="http://schemas.openxmlformats.org/officeDocument/2006/relationships/tags" Target="../tags/tag13.xml"/><Relationship Id="rId15" Type="http://schemas.openxmlformats.org/officeDocument/2006/relationships/image" Target="../media/image25.png"/><Relationship Id="rId14" Type="http://schemas.openxmlformats.org/officeDocument/2006/relationships/tags" Target="../tags/tag12.xml"/><Relationship Id="rId13" Type="http://schemas.openxmlformats.org/officeDocument/2006/relationships/image" Target="../media/image24.png"/><Relationship Id="rId12" Type="http://schemas.openxmlformats.org/officeDocument/2006/relationships/tags" Target="../tags/tag11.xml"/><Relationship Id="rId11" Type="http://schemas.openxmlformats.org/officeDocument/2006/relationships/image" Target="../media/image23.png"/><Relationship Id="rId10" Type="http://schemas.openxmlformats.org/officeDocument/2006/relationships/tags" Target="../tags/tag10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hyperlink" Target="https://www.deloitte.com/global/en/issues/work/genzmillennialsurvey-2022.html?utm_source=chatgpt.com" TargetMode="External"/><Relationship Id="rId7" Type="http://schemas.openxmlformats.org/officeDocument/2006/relationships/hyperlink" Target="https://drive.google.com/file/d/1L6rSjuv54yi8mXFXYeOxaUAeOjwxZ1Va/view?usp=drivesdk" TargetMode="External"/><Relationship Id="rId6" Type="http://schemas.openxmlformats.org/officeDocument/2006/relationships/hyperlink" Target="https://inoxoft.com/blog/how-machine-learning-is-improving-education-benefits/" TargetMode="External"/><Relationship Id="rId5" Type="http://schemas.openxmlformats.org/officeDocument/2006/relationships/hyperlink" Target="https://www.uniranks.com/explore/counselor-resources/ai-powered-career-counseling-how-technology-is-enhancing-student-guidance" TargetMode="External"/><Relationship Id="rId4" Type="http://schemas.openxmlformats.org/officeDocument/2006/relationships/hyperlink" Target="https://cica.org.au/wp-content/uploads/Careers-England-Research-Paper-The-Economic-Benefits-of-Career-Guidance-July-2015.pdf" TargetMode="External"/><Relationship Id="rId3" Type="http://schemas.openxmlformats.org/officeDocument/2006/relationships/hyperlink" Target="https://drive.google.com/file/d/1SGKFZHbgIn1JGIMbhyflKsWZyZcAevRt/view?usp=drivesdk" TargetMode="External"/><Relationship Id="rId2" Type="http://schemas.openxmlformats.org/officeDocument/2006/relationships/hyperlink" Target="Career%20guidance%20using%20decision%20trees" TargetMode="Externa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hyperlink" Target="%22C:/Users/win10/Downloads/one%20stop%20personalized%20career%20&amp;%20education%20asvisor%20(1).pdf%22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83565" y="1437640"/>
            <a:ext cx="11278235" cy="1131570"/>
          </a:xfrm>
        </p:spPr>
        <p:txBody>
          <a:bodyPr/>
          <a:lstStyle/>
          <a:p>
            <a:r>
              <a:rPr lang="en-US" altLang="en-IN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	</a:t>
            </a:r>
            <a:r>
              <a:rPr lang="en-US" altLang="en-IN" sz="2800" dirty="0">
                <a:solidFill>
                  <a:srgbClr val="1FA1D1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MITIGATING EDUCATIONAL UNCERTAINITY WITH MACHINE INTELLIGENCE IN STUDENT ADVISING</a:t>
            </a:r>
            <a:endParaRPr lang="en-US" altLang="en-IN" sz="2800" dirty="0">
              <a:solidFill>
                <a:srgbClr val="1FA1D1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9635" y="2687320"/>
            <a:ext cx="10666095" cy="3655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Team Name: Tech Infantry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Department: Computer Science Engineering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Guide Name: Prof. Anamika Joshi 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Team Leader Name: Prakrati Mishra (0105CS231152)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Team Members: </a:t>
            </a:r>
            <a:r>
              <a:rPr lang="en-US" sz="2400" b="1" dirty="0">
                <a:latin typeface="+mn-lt"/>
                <a:cs typeface="Arial" panose="020B0604020202020204" pitchFamily="34" charset="0"/>
                <a:sym typeface="+mn-ea"/>
              </a:rPr>
              <a:t>Saksham Kumar (0105CS231191)</a:t>
            </a:r>
            <a:endParaRPr lang="en-US" sz="2400" b="1" dirty="0">
              <a:latin typeface="+mn-lt"/>
              <a:cs typeface="Arial" panose="020B0604020202020204" pitchFamily="34" charset="0"/>
              <a:sym typeface="+mn-ea"/>
            </a:endParaRPr>
          </a:p>
          <a:p>
            <a:pPr marL="0" indent="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None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                                     </a:t>
            </a:r>
            <a:r>
              <a:rPr lang="en-US" sz="2400" b="1" dirty="0">
                <a:latin typeface="+mn-lt"/>
                <a:cs typeface="Arial" panose="020B0604020202020204" pitchFamily="34" charset="0"/>
                <a:sym typeface="+mn-ea"/>
              </a:rPr>
              <a:t>Sakshi Pawar (0105CS231192)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Clr>
                <a:srgbClr val="1FA1D1"/>
              </a:buClr>
              <a:buFont typeface="Arial" panose="020B0604020202020204" pitchFamily="34" charset="0"/>
              <a:buNone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                                     Shubham Mallick </a:t>
            </a:r>
            <a:r>
              <a:rPr lang="en-US" sz="2400" b="1" dirty="0">
                <a:latin typeface="+mn-lt"/>
                <a:cs typeface="Arial" panose="020B0604020202020204" pitchFamily="34" charset="0"/>
                <a:sym typeface="+mn-ea"/>
              </a:rPr>
              <a:t>(0105CS231222)</a:t>
            </a: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400" b="1" dirty="0">
                <a:latin typeface="+mn-lt"/>
                <a:cs typeface="Arial" panose="020B0604020202020204" pitchFamily="34" charset="0"/>
              </a:rPr>
              <a:t>                                   </a:t>
            </a:r>
            <a:endParaRPr lang="en-US" sz="2800" b="1" dirty="0">
              <a:latin typeface="+mn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+mn-lt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+mn-lt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1"/>
          <a:srcRect l="19689" r="18578"/>
          <a:stretch>
            <a:fillRect/>
          </a:stretch>
        </p:blipFill>
        <p:spPr>
          <a:xfrm>
            <a:off x="5735955" y="506730"/>
            <a:ext cx="1198245" cy="1035685"/>
          </a:xfrm>
          <a:prstGeom prst="rect">
            <a:avLst/>
          </a:prstGeom>
        </p:spPr>
      </p:pic>
      <p:sp>
        <p:nvSpPr>
          <p:cNvPr id="3" name="Title 7"/>
          <p:cNvSpPr>
            <a:spLocks noGrp="1"/>
          </p:cNvSpPr>
          <p:nvPr/>
        </p:nvSpPr>
        <p:spPr>
          <a:xfrm>
            <a:off x="442595" y="-102870"/>
            <a:ext cx="11278235" cy="7359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MS PGothic" panose="020B0600070205080204" pitchFamily="1" charset="-128"/>
                <a:cs typeface="MS PGothic" panose="020B0600070205080204" pitchFamily="1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pitchFamily="1" charset="0"/>
                <a:ea typeface="MS PGothic" panose="020B0600070205080204" pitchFamily="1" charset="-128"/>
                <a:cs typeface="MS PGothic" panose="020B0600070205080204" pitchFamily="1" charset="-128"/>
              </a:defRPr>
            </a:lvl9pPr>
          </a:lstStyle>
          <a:p>
            <a:r>
              <a:rPr lang="en-US" altLang="en-IN" sz="2800" b="1" dirty="0">
                <a:solidFill>
                  <a:schemeClr val="tx2"/>
                </a:solidFill>
                <a:latin typeface="Garamond" panose="02020404030301010803" pitchFamily="18" charset="0"/>
              </a:rPr>
              <a:t>	</a:t>
            </a:r>
            <a:r>
              <a:rPr lang="en-US" altLang="en-IN" sz="2800" dirty="0">
                <a:solidFill>
                  <a:srgbClr val="1FA1D1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ORIENTAL INSTITUTE OF SCIENCE &amp; TECHNOLOGY</a:t>
            </a:r>
            <a:endParaRPr lang="en-US" altLang="en-IN" sz="2800" dirty="0">
              <a:solidFill>
                <a:srgbClr val="1FA1D1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2301851" y="418346"/>
            <a:ext cx="796417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1743051" y="2003306"/>
            <a:ext cx="940752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203551" y="2464316"/>
            <a:ext cx="607441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7475" y="1278890"/>
            <a:ext cx="10972800" cy="1587500"/>
          </a:xfrm>
        </p:spPr>
        <p:txBody>
          <a:bodyPr/>
          <a:p>
            <a:pPr>
              <a:buClr>
                <a:srgbClr val="1FA1D1"/>
              </a:buClr>
              <a:buFont typeface="Wingdings" panose="05000000000000000000" charset="0"/>
              <a:buChar char="v"/>
            </a:pPr>
            <a:r>
              <a:rPr lang="en-US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Background of the Problem Domain:</a:t>
            </a:r>
            <a:endParaRPr lang="en-US" altLang="en-US" sz="2400" b="1" u="sng">
              <a:solidFill>
                <a:srgbClr val="26B5C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Declining enrollment in government colleges.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parents lack awareness about career opportunities from different courses.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indecision persists in selecting streams and programs post-Class 10/12.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FA1D1"/>
              </a:buClr>
              <a:buFont typeface="Wingdings" panose="05000000000000000000" charset="0"/>
              <a:buChar char="v"/>
            </a:pPr>
            <a:r>
              <a:rPr lang="en-US" altLang="en-US" sz="24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Topic:</a:t>
            </a:r>
            <a:endParaRPr lang="en-US" altLang="en-US" sz="24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accessibility and attractiveness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government educational institutions.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dropouts and migration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private institutions.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for Choosing this Project:</a:t>
            </a:r>
            <a:endParaRPr lang="en-US" altLang="en-US" sz="24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students in rural/semi-urban areas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limited counseling access.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Leverages technology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equitable access to opportunities.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Google Shape;69;p2"/>
          <p:cNvSpPr txBox="1">
            <a:spLocks noGrp="1"/>
          </p:cNvSpPr>
          <p:nvPr/>
        </p:nvSpPr>
        <p:spPr>
          <a:xfrm>
            <a:off x="1981200" y="-18827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 b="0" i="0" u="none" strike="noStrike" cap="non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400" dirty="0">
                <a:solidFill>
                  <a:srgbClr val="1FA1D1"/>
                </a:solidFill>
                <a:latin typeface="Algerian" panose="04020705040A02060702" pitchFamily="82" charset="0"/>
                <a:ea typeface="Calibri" panose="020F0502020204030204"/>
                <a:cs typeface="Calibri" panose="020F0502020204030204"/>
                <a:sym typeface="Calibri" panose="020F0502020204030204"/>
              </a:rPr>
              <a:t>Introduction</a:t>
            </a:r>
            <a:endParaRPr lang="en-US" sz="4400" dirty="0">
              <a:solidFill>
                <a:srgbClr val="1FA1D1"/>
              </a:solidFill>
              <a:latin typeface="Algerian" panose="04020705040A02060702" pitchFamily="82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014095" y="955040"/>
            <a:ext cx="10163175" cy="568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3749016" y="960001"/>
            <a:ext cx="463232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4159226" y="641231"/>
            <a:ext cx="380492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37160"/>
            <a:ext cx="10972800" cy="1143000"/>
          </a:xfrm>
        </p:spPr>
        <p:txBody>
          <a:bodyPr/>
          <a:p>
            <a:r>
              <a:rPr lang="en-US" sz="3600" dirty="0">
                <a:solidFill>
                  <a:srgbClr val="1FA1D1"/>
                </a:solidFill>
                <a:latin typeface="Algerian" panose="04020705040A02060702" pitchFamily="82" charset="0"/>
                <a:ea typeface="Calibri" panose="020F0502020204030204"/>
                <a:cs typeface="Calibri" panose="020F0502020204030204"/>
                <a:sym typeface="Calibri" panose="020F0502020204030204"/>
              </a:rPr>
              <a:t>Problem Statement</a:t>
            </a:r>
            <a:endParaRPr lang="en-US" sz="3600" b="1" u="sng" dirty="0">
              <a:solidFill>
                <a:srgbClr val="1FA1D1"/>
              </a:solidFill>
              <a:latin typeface="Algerian" panose="04020705040A02060702" pitchFamily="82" charset="0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65" y="1005840"/>
            <a:ext cx="10972800" cy="5030788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altLang="en-US" sz="24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Statement of the Issue:</a:t>
            </a:r>
            <a:endParaRPr lang="en-US" altLang="en-US" sz="24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make 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uninformed academic choices.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alignment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aptitude and courses.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timely alerts 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admissions and scholarships.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Rural students 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digital and informational barriers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  <a:buChar char="v"/>
            </a:pPr>
            <a:r>
              <a:rPr lang="en-US" altLang="en-US" sz="24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Needs a Solution:</a:t>
            </a:r>
            <a:endParaRPr lang="en-US" altLang="en-US" sz="24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credibility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government colleges.</a:t>
            </a: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personalized, data-driven planning.</a:t>
            </a:r>
            <a:endParaRPr lang="en-US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Prepares students for </a:t>
            </a:r>
            <a:r>
              <a:rPr lang="en-US" altLang="en-US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careers.</a:t>
            </a:r>
            <a:endParaRPr lang="en-US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rcRect r="1493"/>
          <a:stretch>
            <a:fillRect/>
          </a:stretch>
        </p:blipFill>
        <p:spPr>
          <a:xfrm>
            <a:off x="6398260" y="975995"/>
            <a:ext cx="5704205" cy="463677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3749016" y="641231"/>
            <a:ext cx="463232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Rectangles 4"/>
          <p:cNvSpPr/>
          <p:nvPr/>
        </p:nvSpPr>
        <p:spPr>
          <a:xfrm>
            <a:off x="6420485" y="976630"/>
            <a:ext cx="5771515" cy="4579620"/>
          </a:xfrm>
          <a:prstGeom prst="rect">
            <a:avLst/>
          </a:prstGeom>
          <a:noFill/>
          <a:ln>
            <a:solidFill>
              <a:srgbClr val="39B0D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1FA1D1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48824" y="-79372"/>
            <a:ext cx="10740390" cy="558165"/>
          </a:xfrm>
        </p:spPr>
        <p:txBody>
          <a:bodyPr/>
          <a:lstStyle/>
          <a:p>
            <a:pPr eaLnBrk="1" hangingPunct="1"/>
            <a:br>
              <a:rPr lang="en-US" sz="28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1FA1D1"/>
                </a:solidFill>
                <a:latin typeface="Algerian" panose="04020705040A02060702" pitchFamily="82" charset="0"/>
                <a:ea typeface="MS PGothic" panose="020B0600070205080204" pitchFamily="1" charset="-128"/>
                <a:cs typeface="Algerian" panose="04020705040A02060702" pitchFamily="82" charset="0"/>
              </a:rPr>
              <a:t>SOLUTION</a:t>
            </a:r>
            <a:endParaRPr lang="en-US" sz="3600" dirty="0">
              <a:solidFill>
                <a:srgbClr val="1FA1D1"/>
              </a:solidFill>
              <a:latin typeface="Algerian" panose="04020705040A02060702" pitchFamily="82" charset="0"/>
              <a:ea typeface="MS PGothic" panose="020B0600070205080204" pitchFamily="1" charset="-128"/>
              <a:cs typeface="Algerian" panose="04020705040A02060702" pitchFamily="82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89535" y="1620520"/>
            <a:ext cx="6224905" cy="19202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career guidance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works online + offline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job market insights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Clear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academic-to-career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pathways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+ Human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mentorship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E-Book Directory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9263" y="3371583"/>
            <a:ext cx="5845810" cy="480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 b="1" u="sng" dirty="0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 of the Solution:</a:t>
            </a:r>
            <a:endParaRPr lang="en-US" altLang="en-US" sz="2400" b="1" u="sng" dirty="0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05317" y="3778250"/>
            <a:ext cx="5919019" cy="3022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First AI + Human hybrid model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Predictive analytics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early intervention             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Offline-first,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low-bandwidth design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notifications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reminders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Scholarship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financial aid recommendation engine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Multilingual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&amp; culturally adaptive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path visualization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guidance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Text Box 7"/>
          <p:cNvSpPr txBox="1"/>
          <p:nvPr/>
        </p:nvSpPr>
        <p:spPr>
          <a:xfrm>
            <a:off x="130532" y="1144395"/>
            <a:ext cx="5845810" cy="4806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400" b="1" u="sng" dirty="0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endParaRPr lang="en-US" altLang="en-US" sz="2400" b="1" u="sng" dirty="0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2400" b="1" u="sng" dirty="0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 l="2043" r="2275" b="3268"/>
          <a:stretch>
            <a:fillRect/>
          </a:stretch>
        </p:blipFill>
        <p:spPr>
          <a:xfrm>
            <a:off x="5767070" y="803910"/>
            <a:ext cx="6424930" cy="58699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56254" y="1049420"/>
            <a:ext cx="178435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US" sz="2000" b="1" dirty="0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827246" y="641231"/>
            <a:ext cx="216789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715101" y="1384181"/>
            <a:ext cx="172529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6891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rgbClr val="1FA1D1"/>
                </a:solidFill>
                <a:latin typeface="Algerian" panose="04020705040A02060702" pitchFamily="82" charset="0"/>
                <a:ea typeface="MS PGothic" panose="020B0600070205080204" pitchFamily="1" charset="-128"/>
                <a:cs typeface="Algerian" panose="04020705040A02060702" pitchFamily="82" charset="0"/>
              </a:rPr>
              <a:t>TECHNICAL APPROACH</a:t>
            </a:r>
            <a:endParaRPr lang="en-US" sz="3600" dirty="0">
              <a:solidFill>
                <a:srgbClr val="1FA1D1"/>
              </a:solidFill>
              <a:latin typeface="Algerian" panose="04020705040A02060702" pitchFamily="82" charset="0"/>
              <a:ea typeface="MS PGothic" panose="020B0600070205080204" pitchFamily="1" charset="-128"/>
              <a:cs typeface="Algerian" panose="04020705040A02060702" pitchFamily="82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106805"/>
            <a:ext cx="537273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JavaScript,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React.js, tailwindcss, Streamlit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Fastapi, Flask, Nodejs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AI/ML: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Tensorflow/Keras, nltk,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mistral AI + Langchain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Data-preprocessing: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Numpy, pandas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MongoDB, Pickle, Json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Matplotlib, D3.js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JWT      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GitHub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-403799" y="697279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altLang="en-US" sz="2400" b="1" u="sng" dirty="0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Stack:</a:t>
            </a:r>
            <a:endParaRPr lang="en-US" altLang="en-US" sz="2400" b="1" u="sng" dirty="0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7" name="Picture 16"/>
          <p:cNvPicPr/>
          <p:nvPr/>
        </p:nvPicPr>
        <p:blipFill>
          <a:blip r:embed="rId1"/>
          <a:stretch>
            <a:fillRect/>
          </a:stretch>
        </p:blipFill>
        <p:spPr>
          <a:xfrm>
            <a:off x="257175" y="4088765"/>
            <a:ext cx="364490" cy="46101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2"/>
          <a:srcRect t="25037" b="34528"/>
          <a:stretch>
            <a:fillRect/>
          </a:stretch>
        </p:blipFill>
        <p:spPr>
          <a:xfrm>
            <a:off x="741045" y="4088765"/>
            <a:ext cx="944880" cy="254000"/>
          </a:xfrm>
          <a:prstGeom prst="rect">
            <a:avLst/>
          </a:prstGeom>
        </p:spPr>
      </p:pic>
      <p:pic>
        <p:nvPicPr>
          <p:cNvPr id="22" name="Picture 21"/>
          <p:cNvPicPr/>
          <p:nvPr/>
        </p:nvPicPr>
        <p:blipFill>
          <a:blip r:embed="rId3"/>
          <a:srcRect l="16401" t="11333" r="15377" b="10833"/>
          <a:stretch>
            <a:fillRect/>
          </a:stretch>
        </p:blipFill>
        <p:spPr>
          <a:xfrm>
            <a:off x="2463800" y="4130675"/>
            <a:ext cx="389890" cy="394970"/>
          </a:xfrm>
          <a:prstGeom prst="rect">
            <a:avLst/>
          </a:prstGeom>
        </p:spPr>
      </p:pic>
      <p:pic>
        <p:nvPicPr>
          <p:cNvPr id="32" name="Picture 31"/>
          <p:cNvPicPr/>
          <p:nvPr/>
        </p:nvPicPr>
        <p:blipFill>
          <a:blip r:embed="rId4"/>
          <a:srcRect b="7007"/>
          <a:stretch>
            <a:fillRect/>
          </a:stretch>
        </p:blipFill>
        <p:spPr>
          <a:xfrm>
            <a:off x="902335" y="4549775"/>
            <a:ext cx="383540" cy="472440"/>
          </a:xfrm>
          <a:prstGeom prst="rect">
            <a:avLst/>
          </a:prstGeom>
        </p:spPr>
      </p:pic>
      <p:pic>
        <p:nvPicPr>
          <p:cNvPr id="36" name="Picture 35"/>
          <p:cNvPicPr/>
          <p:nvPr/>
        </p:nvPicPr>
        <p:blipFill>
          <a:blip r:embed="rId5"/>
          <a:stretch>
            <a:fillRect/>
          </a:stretch>
        </p:blipFill>
        <p:spPr>
          <a:xfrm>
            <a:off x="257175" y="4710430"/>
            <a:ext cx="473075" cy="262890"/>
          </a:xfrm>
          <a:prstGeom prst="rect">
            <a:avLst/>
          </a:prstGeom>
        </p:spPr>
      </p:pic>
      <p:pic>
        <p:nvPicPr>
          <p:cNvPr id="41" name="Picture 40"/>
          <p:cNvPicPr/>
          <p:nvPr/>
        </p:nvPicPr>
        <p:blipFill>
          <a:blip r:embed="rId6"/>
          <a:stretch>
            <a:fillRect/>
          </a:stretch>
        </p:blipFill>
        <p:spPr>
          <a:xfrm>
            <a:off x="1457960" y="4589385"/>
            <a:ext cx="414655" cy="384175"/>
          </a:xfrm>
          <a:prstGeom prst="rect">
            <a:avLst/>
          </a:prstGeom>
        </p:spPr>
      </p:pic>
      <p:pic>
        <p:nvPicPr>
          <p:cNvPr id="47" name="Picture 46"/>
          <p:cNvPicPr/>
          <p:nvPr/>
        </p:nvPicPr>
        <p:blipFill>
          <a:blip r:embed="rId7"/>
          <a:stretch>
            <a:fillRect/>
          </a:stretch>
        </p:blipFill>
        <p:spPr>
          <a:xfrm>
            <a:off x="2983230" y="4088765"/>
            <a:ext cx="452120" cy="3860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575" y="956945"/>
            <a:ext cx="6166485" cy="42208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rcRect t="5246"/>
          <a:stretch>
            <a:fillRect/>
          </a:stretch>
        </p:blipFill>
        <p:spPr>
          <a:xfrm>
            <a:off x="6080125" y="5158105"/>
            <a:ext cx="6039485" cy="177355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639796" y="641231"/>
            <a:ext cx="495363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167005" y="3970020"/>
            <a:ext cx="3472815" cy="1207770"/>
          </a:xfrm>
          <a:prstGeom prst="rect">
            <a:avLst/>
          </a:prstGeom>
          <a:noFill/>
          <a:ln>
            <a:solidFill>
              <a:srgbClr val="39B0D4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0" y="5317490"/>
            <a:ext cx="6751955" cy="14141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lang="en-US" altLang="en-US" sz="24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Dropout risk factors Prediction:</a:t>
            </a:r>
            <a:endParaRPr lang="en-US" altLang="en-US" sz="24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Performance, Behavioral Indicators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Personal, Institutional, Social, &amp; External Factors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Data, Early Warning Indicators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10"/>
          <a:srcRect l="32898" t="29657" r="33130" b="24704"/>
          <a:stretch>
            <a:fillRect/>
          </a:stretch>
        </p:blipFill>
        <p:spPr>
          <a:xfrm>
            <a:off x="2779395" y="4518025"/>
            <a:ext cx="549910" cy="54356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11"/>
          <a:srcRect l="38060" t="27749" r="37878" b="27800"/>
          <a:stretch>
            <a:fillRect/>
          </a:stretch>
        </p:blipFill>
        <p:spPr>
          <a:xfrm>
            <a:off x="1767840" y="4048760"/>
            <a:ext cx="497840" cy="50101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12"/>
          <a:srcRect t="20919" b="19407"/>
          <a:stretch>
            <a:fillRect/>
          </a:stretch>
        </p:blipFill>
        <p:spPr>
          <a:xfrm>
            <a:off x="2113915" y="4596765"/>
            <a:ext cx="424180" cy="369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9860" y="962660"/>
          <a:ext cx="6978650" cy="5542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0670"/>
                <a:gridCol w="2171065"/>
                <a:gridCol w="1628775"/>
                <a:gridCol w="1628140"/>
              </a:tblGrid>
              <a:tr h="565785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400"/>
                        <a:t>Feature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Proposed AI-Powered Career Guidance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Existing Career Guidance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Traditional Counseling Methods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sz="1400"/>
                        <a:t>Accuracy</a:t>
                      </a:r>
                      <a:endParaRPr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High &amp; Data-Driven (AI + Human Hybrid)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Moderate (Algorithm-based)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Variable (Depends on counselor)</a:t>
                      </a:r>
                    </a:p>
                  </a:txBody>
                  <a:tcPr/>
                </a:tc>
              </a:tr>
              <a:tr h="47561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Speed of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Real-Time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Slow (Manual Evaluation)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/>
                        <a:t>Dropout Risk Prediction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/>
                        <a:t>Yes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/>
                        <a:t>No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rPr lang="en-US"/>
                        <a:t>Medium</a:t>
                      </a:r>
                      <a:endParaRPr lang="en-US"/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High (Handles large student base)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Low (Limited counselors)</a:t>
                      </a:r>
                    </a:p>
                  </a:txBody>
                  <a:tcPr/>
                </a:tc>
              </a:tr>
              <a:tr h="40703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Offline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Mostly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Yes (Manual)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Localization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Region-specific career &amp; college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Often Global/Generic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Regional but limited data insight</a:t>
                      </a:r>
                    </a:p>
                  </a:txBody>
                  <a:tcPr/>
                </a:tc>
              </a:tr>
              <a:tr h="47561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Decision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Predictive Analytics &amp;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Static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Manual interpretation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Language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Multilingual &amp; Culturally Adaptive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Depends on counselor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Seamless with Govt. Educational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115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Learning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Yes (AI improves with feedback)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 Accessibility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High (Mobile-first, 2G-compatible)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Low in rural areas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-412750" y="141605"/>
            <a:ext cx="76454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ctr">
              <a:buFont typeface="Wingdings" panose="05000000000000000000" charset="0"/>
              <a:buChar char="v"/>
              <a:defRPr sz="2800"/>
            </a:pPr>
            <a:r>
              <a:rPr u="sng">
                <a:solidFill>
                  <a:srgbClr val="39B0D4"/>
                </a:solidFill>
                <a:latin typeface="Algerian" panose="04020705040A02060702" pitchFamily="82" charset="0"/>
                <a:cs typeface="Algerian" panose="04020705040A02060702" pitchFamily="82" charset="0"/>
                <a:sym typeface="+mn-ea"/>
              </a:rPr>
              <a:t>Comparison with Existing Models</a:t>
            </a:r>
            <a:endParaRPr lang="en-US" u="sng">
              <a:solidFill>
                <a:srgbClr val="39B0D4"/>
              </a:solidFill>
              <a:latin typeface="Algerian" panose="04020705040A02060702" pitchFamily="82" charset="0"/>
              <a:cs typeface="Algerian" panose="04020705040A02060702" pitchFamily="82" charset="0"/>
              <a:sym typeface="+mn-ea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7185660" y="829945"/>
            <a:ext cx="5006975" cy="5384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77C3CE7-23F7-4828-823C-E0205DF2CF97}" type="slidenum">
              <a:rPr lang="en-US"/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2300" y="-274320"/>
            <a:ext cx="10972800" cy="1143000"/>
          </a:xfrm>
        </p:spPr>
        <p:txBody>
          <a:bodyPr/>
          <a:p>
            <a:pPr eaLnBrk="1" hangingPunct="1"/>
            <a:r>
              <a:rPr lang="en-US" sz="3200" dirty="0">
                <a:solidFill>
                  <a:srgbClr val="1FA1D1"/>
                </a:solidFill>
                <a:latin typeface="Algerian" panose="04020705040A02060702" pitchFamily="82" charset="0"/>
                <a:ea typeface="MS PGothic" panose="020B0600070205080204" pitchFamily="1" charset="-128"/>
                <a:cs typeface="Algerian" panose="04020705040A02060702" pitchFamily="82" charset="0"/>
              </a:rPr>
              <a:t>FEASIBILITY AND VIABILITY</a:t>
            </a:r>
            <a:endParaRPr lang="en-US" sz="3200" dirty="0">
              <a:solidFill>
                <a:srgbClr val="1FA1D1"/>
              </a:solidFill>
              <a:latin typeface="Algerian" panose="04020705040A02060702" pitchFamily="82" charset="0"/>
              <a:ea typeface="MS PGothic" panose="020B0600070205080204" pitchFamily="1" charset="-128"/>
              <a:cs typeface="Algerian" panose="04020705040A02060702" pitchFamily="8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2053" y="1553269"/>
            <a:ext cx="234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Economic Feasibility</a:t>
            </a:r>
            <a:endParaRPr lang="en-I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-18559" y="3116925"/>
            <a:ext cx="233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b="1" dirty="0">
                <a:solidFill>
                  <a:srgbClr val="FFC000"/>
                </a:solidFill>
              </a:rPr>
              <a:t>Operational Feasibility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3459888" y="3201678"/>
            <a:ext cx="1426464" cy="1362456"/>
          </a:xfrm>
          <a:prstGeom prst="flowChartConnector">
            <a:avLst/>
          </a:prstGeom>
          <a:blipFill>
            <a:blip r:embed="rId1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IN" b="1" dirty="0"/>
              <a:t>Project </a:t>
            </a:r>
            <a:endParaRPr lang="en-IN" b="1" dirty="0"/>
          </a:p>
          <a:p>
            <a:pPr algn="ctr"/>
            <a:r>
              <a:rPr lang="en-IN" b="1" dirty="0"/>
              <a:t>Analysis</a:t>
            </a:r>
            <a:endParaRPr lang="en-IN" b="1" dirty="0"/>
          </a:p>
        </p:txBody>
      </p:sp>
      <p:sp>
        <p:nvSpPr>
          <p:cNvPr id="17423" name="Flowchart: Connector 17422"/>
          <p:cNvSpPr/>
          <p:nvPr/>
        </p:nvSpPr>
        <p:spPr>
          <a:xfrm flipH="1">
            <a:off x="3769136" y="3133635"/>
            <a:ext cx="193199" cy="209791"/>
          </a:xfrm>
          <a:prstGeom prst="flowChartConnector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17422" name="Flowchart: Connector 17421"/>
          <p:cNvSpPr/>
          <p:nvPr/>
        </p:nvSpPr>
        <p:spPr>
          <a:xfrm flipH="1">
            <a:off x="3419125" y="3484086"/>
            <a:ext cx="193199" cy="209791"/>
          </a:xfrm>
          <a:prstGeom prst="flowChartConnector">
            <a:avLst/>
          </a:prstGeom>
          <a:solidFill>
            <a:srgbClr val="3B9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17421" name="Flowchart: Connector 17420"/>
          <p:cNvSpPr/>
          <p:nvPr/>
        </p:nvSpPr>
        <p:spPr>
          <a:xfrm flipH="1">
            <a:off x="3373055" y="3880273"/>
            <a:ext cx="193199" cy="209791"/>
          </a:xfrm>
          <a:prstGeom prst="flowChartConnector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3691374" y="2678972"/>
            <a:ext cx="164592" cy="54129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976851" y="3172434"/>
            <a:ext cx="548640" cy="39823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734037" y="3996071"/>
            <a:ext cx="704107" cy="71844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1" name="Picture 20" descr="A hand holding gears with tick and cross mark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886" y="2068417"/>
            <a:ext cx="584625" cy="584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 descr="A purple and blue graphic with a gear and a dollar sig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703" y="2757407"/>
            <a:ext cx="601738" cy="6017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9" name="Picture 18" descr="A group of people with a gear and checklis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895" y="3737843"/>
            <a:ext cx="605987" cy="576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TextBox 24"/>
          <p:cNvSpPr txBox="1"/>
          <p:nvPr/>
        </p:nvSpPr>
        <p:spPr>
          <a:xfrm>
            <a:off x="2925064" y="669728"/>
            <a:ext cx="248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b="1" dirty="0">
                <a:solidFill>
                  <a:srgbClr val="00B050"/>
                </a:solidFill>
              </a:rPr>
              <a:t>Technical Feasibility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8" name="Arrow: Right 47"/>
          <p:cNvSpPr/>
          <p:nvPr/>
        </p:nvSpPr>
        <p:spPr>
          <a:xfrm>
            <a:off x="5363644" y="1807717"/>
            <a:ext cx="1924194" cy="104648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IN" dirty="0"/>
              <a:t>Overcoming</a:t>
            </a:r>
            <a:endParaRPr lang="en-IN" dirty="0"/>
          </a:p>
          <a:p>
            <a:pPr algn="ctr"/>
            <a:r>
              <a:rPr lang="en-IN" dirty="0"/>
              <a:t>Challenges</a:t>
            </a:r>
            <a:endParaRPr lang="en-IN" dirty="0"/>
          </a:p>
        </p:txBody>
      </p:sp>
      <p:sp>
        <p:nvSpPr>
          <p:cNvPr id="50" name="Arrow: Right 49"/>
          <p:cNvSpPr/>
          <p:nvPr/>
        </p:nvSpPr>
        <p:spPr>
          <a:xfrm rot="18860464">
            <a:off x="6706555" y="1533488"/>
            <a:ext cx="1022092" cy="35358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17425" name="TextBox 17424"/>
          <p:cNvSpPr txBox="1"/>
          <p:nvPr/>
        </p:nvSpPr>
        <p:spPr>
          <a:xfrm>
            <a:off x="7649783" y="176064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IN" sz="1400" dirty="0">
                <a:solidFill>
                  <a:schemeClr val="bg1"/>
                </a:solidFill>
              </a:rPr>
              <a:t>02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51" name="Arrow: Right 50"/>
          <p:cNvSpPr/>
          <p:nvPr/>
        </p:nvSpPr>
        <p:spPr>
          <a:xfrm rot="19780160">
            <a:off x="7060562" y="1866136"/>
            <a:ext cx="1032801" cy="362364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52" name="Arrow: Right 51"/>
          <p:cNvSpPr/>
          <p:nvPr/>
        </p:nvSpPr>
        <p:spPr>
          <a:xfrm>
            <a:off x="7288039" y="2376550"/>
            <a:ext cx="1073199" cy="349598"/>
          </a:xfrm>
          <a:prstGeom prst="right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53" name="Arrow: Right 52"/>
          <p:cNvSpPr/>
          <p:nvPr/>
        </p:nvSpPr>
        <p:spPr>
          <a:xfrm rot="1361933">
            <a:off x="7124068" y="2773691"/>
            <a:ext cx="1051430" cy="377426"/>
          </a:xfrm>
          <a:prstGeom prst="rightArrow">
            <a:avLst/>
          </a:prstGeom>
          <a:solidFill>
            <a:srgbClr val="ED91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54" name="Arrow: Right 53"/>
          <p:cNvSpPr/>
          <p:nvPr/>
        </p:nvSpPr>
        <p:spPr>
          <a:xfrm rot="2684874">
            <a:off x="6759409" y="3170924"/>
            <a:ext cx="1046823" cy="355902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/>
          </a:p>
        </p:txBody>
      </p:sp>
      <p:sp>
        <p:nvSpPr>
          <p:cNvPr id="17424" name="TextBox 17423"/>
          <p:cNvSpPr txBox="1"/>
          <p:nvPr/>
        </p:nvSpPr>
        <p:spPr>
          <a:xfrm>
            <a:off x="7282375" y="132608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IN" sz="1400" dirty="0">
                <a:solidFill>
                  <a:schemeClr val="bg1"/>
                </a:solidFill>
              </a:rPr>
              <a:t>01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5" name="TextBox 17424"/>
          <p:cNvSpPr txBox="1"/>
          <p:nvPr/>
        </p:nvSpPr>
        <p:spPr>
          <a:xfrm>
            <a:off x="7776783" y="188764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IN" sz="1400" dirty="0">
                <a:solidFill>
                  <a:schemeClr val="bg1"/>
                </a:solidFill>
              </a:rPr>
              <a:t>02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7" name="TextBox 17424"/>
          <p:cNvSpPr txBox="1"/>
          <p:nvPr/>
        </p:nvSpPr>
        <p:spPr>
          <a:xfrm>
            <a:off x="7701218" y="1733970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IN" sz="1400" dirty="0">
                <a:solidFill>
                  <a:schemeClr val="bg1"/>
                </a:solidFill>
              </a:rPr>
              <a:t>02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7426" name="TextBox 17425"/>
          <p:cNvSpPr txBox="1"/>
          <p:nvPr/>
        </p:nvSpPr>
        <p:spPr>
          <a:xfrm>
            <a:off x="7993830" y="241617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IN" sz="1400" dirty="0">
                <a:solidFill>
                  <a:schemeClr val="bg1"/>
                </a:solidFill>
              </a:rPr>
              <a:t>03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7428" name="TextBox 17427"/>
          <p:cNvSpPr txBox="1"/>
          <p:nvPr/>
        </p:nvSpPr>
        <p:spPr>
          <a:xfrm>
            <a:off x="7761769" y="2934036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IN" sz="1400" dirty="0">
                <a:solidFill>
                  <a:schemeClr val="bg1"/>
                </a:solidFill>
              </a:rPr>
              <a:t>04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17427" name="TextBox 17426"/>
          <p:cNvSpPr txBox="1"/>
          <p:nvPr/>
        </p:nvSpPr>
        <p:spPr>
          <a:xfrm>
            <a:off x="7333753" y="3429743"/>
            <a:ext cx="428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1400" b="1" dirty="0">
                <a:solidFill>
                  <a:schemeClr val="bg1"/>
                </a:solidFill>
              </a:rPr>
              <a:t>05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37" name="Hexagon 36"/>
          <p:cNvSpPr/>
          <p:nvPr/>
        </p:nvSpPr>
        <p:spPr>
          <a:xfrm>
            <a:off x="1533854" y="5699861"/>
            <a:ext cx="1356661" cy="1046483"/>
          </a:xfrm>
          <a:prstGeom prst="hexagon">
            <a:avLst/>
          </a:prstGeom>
          <a:solidFill>
            <a:srgbClr val="FF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39" name="Hexagon 38"/>
          <p:cNvSpPr/>
          <p:nvPr/>
        </p:nvSpPr>
        <p:spPr>
          <a:xfrm>
            <a:off x="2752342" y="5145945"/>
            <a:ext cx="1356661" cy="1046483"/>
          </a:xfrm>
          <a:prstGeom prst="hexag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41" name="Hexagon 40"/>
          <p:cNvSpPr/>
          <p:nvPr/>
        </p:nvSpPr>
        <p:spPr>
          <a:xfrm>
            <a:off x="3951528" y="5739372"/>
            <a:ext cx="1356661" cy="1046483"/>
          </a:xfrm>
          <a:prstGeom prst="hexago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42" name="Hexagon 41"/>
          <p:cNvSpPr/>
          <p:nvPr/>
        </p:nvSpPr>
        <p:spPr>
          <a:xfrm>
            <a:off x="5167030" y="5136081"/>
            <a:ext cx="1356661" cy="1046483"/>
          </a:xfrm>
          <a:prstGeom prst="hexag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40" name="Hexagon 39"/>
          <p:cNvSpPr/>
          <p:nvPr/>
        </p:nvSpPr>
        <p:spPr>
          <a:xfrm>
            <a:off x="6344564" y="5773410"/>
            <a:ext cx="1356661" cy="1046483"/>
          </a:xfrm>
          <a:prstGeom prst="hexag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31519" y="5138300"/>
            <a:ext cx="253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sz="2400" b="1" dirty="0"/>
              <a:t>Potential Risks</a:t>
            </a:r>
            <a:r>
              <a:rPr lang="en-IN" sz="2400" dirty="0"/>
              <a:t>:</a:t>
            </a:r>
            <a:endParaRPr lang="en-IN" sz="2400" dirty="0"/>
          </a:p>
        </p:txBody>
      </p:sp>
      <p:sp>
        <p:nvSpPr>
          <p:cNvPr id="36" name="Arrow: Right 35"/>
          <p:cNvSpPr/>
          <p:nvPr/>
        </p:nvSpPr>
        <p:spPr>
          <a:xfrm>
            <a:off x="167648" y="5839044"/>
            <a:ext cx="1169843" cy="687040"/>
          </a:xfrm>
          <a:prstGeom prst="rightArrow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IN" dirty="0"/>
          </a:p>
        </p:txBody>
      </p:sp>
      <p:sp>
        <p:nvSpPr>
          <p:cNvPr id="18" name="Text Box 17"/>
          <p:cNvSpPr txBox="1"/>
          <p:nvPr/>
        </p:nvSpPr>
        <p:spPr>
          <a:xfrm>
            <a:off x="2890520" y="102330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Scalable: rural + urban</a:t>
            </a:r>
            <a:endParaRPr sz="1600"/>
          </a:p>
          <a:p>
            <a:r>
              <a:rPr lang="en-US" altLang="en-US" sz="1600"/>
              <a:t>Cloud + offline support</a:t>
            </a:r>
            <a:endParaRPr lang="en-US" altLang="en-US" sz="1600"/>
          </a:p>
          <a:p>
            <a:r>
              <a:rPr lang="en-US" altLang="en-US" sz="1600"/>
              <a:t>Easy system integration</a:t>
            </a:r>
            <a:endParaRPr lang="en-US" altLang="en-US" sz="1600"/>
          </a:p>
        </p:txBody>
      </p:sp>
      <p:sp>
        <p:nvSpPr>
          <p:cNvPr id="20" name="Text Box 19"/>
          <p:cNvSpPr txBox="1"/>
          <p:nvPr/>
        </p:nvSpPr>
        <p:spPr>
          <a:xfrm>
            <a:off x="31750" y="3484880"/>
            <a:ext cx="245046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Works on 2G &amp; power cuts</a:t>
            </a:r>
            <a:endParaRPr sz="1600"/>
          </a:p>
          <a:p>
            <a:r>
              <a:rPr sz="1600"/>
              <a:t>Easy adoption &amp; use</a:t>
            </a:r>
            <a:endParaRPr sz="1600"/>
          </a:p>
          <a:p>
            <a:r>
              <a:rPr sz="1600"/>
              <a:t>Multi-language support</a:t>
            </a:r>
            <a:endParaRPr sz="1600"/>
          </a:p>
        </p:txBody>
      </p:sp>
      <p:sp>
        <p:nvSpPr>
          <p:cNvPr id="22" name="Text Box 21"/>
          <p:cNvSpPr txBox="1"/>
          <p:nvPr/>
        </p:nvSpPr>
        <p:spPr>
          <a:xfrm>
            <a:off x="622300" y="188817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Scalable &amp; adaptive</a:t>
            </a:r>
            <a:endParaRPr sz="1600"/>
          </a:p>
          <a:p>
            <a:r>
              <a:rPr lang="en-US" altLang="en-US" sz="1600"/>
              <a:t>Low cost</a:t>
            </a:r>
            <a:endParaRPr lang="en-US" altLang="en-US" sz="1600"/>
          </a:p>
          <a:p>
            <a:endParaRPr lang="en-US" altLang="en-US" sz="1600"/>
          </a:p>
        </p:txBody>
      </p:sp>
      <p:sp>
        <p:nvSpPr>
          <p:cNvPr id="27" name="Text Box 26"/>
          <p:cNvSpPr txBox="1"/>
          <p:nvPr/>
        </p:nvSpPr>
        <p:spPr>
          <a:xfrm>
            <a:off x="1654175" y="577310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sz="1600"/>
              <a:t>  </a:t>
            </a:r>
            <a:r>
              <a:rPr sz="1600" b="1"/>
              <a:t>Remote </a:t>
            </a:r>
            <a:endParaRPr sz="1600" b="1"/>
          </a:p>
          <a:p>
            <a:r>
              <a:rPr sz="1600" b="1"/>
              <a:t>connectivity </a:t>
            </a:r>
            <a:endParaRPr sz="1600" b="1"/>
          </a:p>
          <a:p>
            <a:r>
              <a:rPr sz="1600" b="1"/>
              <a:t> </a:t>
            </a:r>
            <a:r>
              <a:rPr lang="en-US" sz="1600" b="1"/>
              <a:t>  </a:t>
            </a:r>
            <a:r>
              <a:rPr sz="1600" b="1"/>
              <a:t>gaps</a:t>
            </a:r>
            <a:endParaRPr sz="1600" b="1"/>
          </a:p>
        </p:txBody>
      </p:sp>
      <p:sp>
        <p:nvSpPr>
          <p:cNvPr id="30" name="Text Box 29"/>
          <p:cNvSpPr txBox="1"/>
          <p:nvPr/>
        </p:nvSpPr>
        <p:spPr>
          <a:xfrm>
            <a:off x="8207375" y="3021965"/>
            <a:ext cx="34074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Adaptive content for literacy levels</a:t>
            </a:r>
            <a:endParaRPr sz="1600"/>
          </a:p>
        </p:txBody>
      </p:sp>
      <p:sp>
        <p:nvSpPr>
          <p:cNvPr id="31" name="Text Box 30"/>
          <p:cNvSpPr txBox="1"/>
          <p:nvPr/>
        </p:nvSpPr>
        <p:spPr>
          <a:xfrm>
            <a:off x="7780020" y="35702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Offline access with online sync</a:t>
            </a:r>
            <a:endParaRPr sz="1600"/>
          </a:p>
        </p:txBody>
      </p:sp>
      <p:sp>
        <p:nvSpPr>
          <p:cNvPr id="32" name="Text Box 31"/>
          <p:cNvSpPr txBox="1"/>
          <p:nvPr/>
        </p:nvSpPr>
        <p:spPr>
          <a:xfrm>
            <a:off x="2767965" y="5146040"/>
            <a:ext cx="1736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sym typeface="+mn-ea"/>
              </a:rPr>
              <a:t>   </a:t>
            </a:r>
            <a:r>
              <a:rPr sz="1600" b="1">
                <a:sym typeface="+mn-ea"/>
              </a:rPr>
              <a:t>High cost </a:t>
            </a:r>
            <a:endParaRPr sz="1600" b="1">
              <a:sym typeface="+mn-ea"/>
            </a:endParaRPr>
          </a:p>
          <a:p>
            <a:r>
              <a:rPr lang="en-US" sz="1600" b="1">
                <a:sym typeface="+mn-ea"/>
              </a:rPr>
              <a:t>         </a:t>
            </a:r>
            <a:r>
              <a:rPr sz="1600" b="1">
                <a:sym typeface="+mn-ea"/>
              </a:rPr>
              <a:t>&amp; maintenance</a:t>
            </a:r>
            <a:endParaRPr lang="en-US" sz="1600" b="1">
              <a:sym typeface="+mn-ea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4109085" y="577310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Digital </a:t>
            </a:r>
            <a:endParaRPr sz="1600" b="1"/>
          </a:p>
          <a:p>
            <a:r>
              <a:rPr sz="1600" b="1"/>
              <a:t>illiteracy &amp; </a:t>
            </a:r>
            <a:endParaRPr sz="1600" b="1"/>
          </a:p>
          <a:p>
            <a:r>
              <a:rPr sz="1600" b="1"/>
              <a:t>resistance</a:t>
            </a:r>
            <a:endParaRPr sz="1600" b="1"/>
          </a:p>
        </p:txBody>
      </p:sp>
      <p:sp>
        <p:nvSpPr>
          <p:cNvPr id="38" name="Text Box 37"/>
          <p:cNvSpPr txBox="1"/>
          <p:nvPr/>
        </p:nvSpPr>
        <p:spPr>
          <a:xfrm>
            <a:off x="7701280" y="12157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Ongoing technical support</a:t>
            </a:r>
            <a:endParaRPr sz="1600"/>
          </a:p>
        </p:txBody>
      </p:sp>
      <p:sp>
        <p:nvSpPr>
          <p:cNvPr id="43" name="Text Box 42"/>
          <p:cNvSpPr txBox="1"/>
          <p:nvPr/>
        </p:nvSpPr>
        <p:spPr>
          <a:xfrm>
            <a:off x="8207375" y="1633855"/>
            <a:ext cx="34194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Simple, user-friendly interface</a:t>
            </a:r>
            <a:endParaRPr sz="1600"/>
          </a:p>
        </p:txBody>
      </p:sp>
      <p:sp>
        <p:nvSpPr>
          <p:cNvPr id="44" name="Text Box 43"/>
          <p:cNvSpPr txBox="1"/>
          <p:nvPr/>
        </p:nvSpPr>
        <p:spPr>
          <a:xfrm>
            <a:off x="8430260" y="2315845"/>
            <a:ext cx="319659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Feedback loops for improvement</a:t>
            </a:r>
            <a:endParaRPr sz="1600"/>
          </a:p>
        </p:txBody>
      </p:sp>
      <p:sp>
        <p:nvSpPr>
          <p:cNvPr id="45" name="Text Box 44"/>
          <p:cNvSpPr txBox="1"/>
          <p:nvPr/>
        </p:nvSpPr>
        <p:spPr>
          <a:xfrm>
            <a:off x="5406390" y="5243830"/>
            <a:ext cx="103949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/>
              <a:t>Cultural</a:t>
            </a:r>
            <a:endParaRPr sz="1600" b="1"/>
          </a:p>
          <a:p>
            <a:r>
              <a:rPr sz="1600" b="1"/>
              <a:t>language </a:t>
            </a:r>
            <a:endParaRPr sz="1600" b="1"/>
          </a:p>
          <a:p>
            <a:r>
              <a:rPr sz="1600" b="1"/>
              <a:t>barriers</a:t>
            </a:r>
            <a:endParaRPr sz="1600" b="1"/>
          </a:p>
        </p:txBody>
      </p:sp>
      <p:sp>
        <p:nvSpPr>
          <p:cNvPr id="47" name="Text Box 46"/>
          <p:cNvSpPr txBox="1"/>
          <p:nvPr/>
        </p:nvSpPr>
        <p:spPr>
          <a:xfrm>
            <a:off x="6523990" y="5838825"/>
            <a:ext cx="121602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/>
              <a:t>Resistance</a:t>
            </a:r>
            <a:endParaRPr sz="1600" b="1"/>
          </a:p>
          <a:p>
            <a:r>
              <a:rPr sz="1600" b="1"/>
              <a:t> </a:t>
            </a:r>
            <a:r>
              <a:rPr lang="en-US" sz="1600" b="1"/>
              <a:t>   </a:t>
            </a:r>
            <a:r>
              <a:rPr sz="1600" b="1"/>
              <a:t>to </a:t>
            </a:r>
            <a:endParaRPr sz="1600" b="1"/>
          </a:p>
          <a:p>
            <a:r>
              <a:rPr sz="1600" b="1"/>
              <a:t>change</a:t>
            </a:r>
            <a:endParaRPr sz="1600" b="1"/>
          </a:p>
        </p:txBody>
      </p:sp>
      <p:pic>
        <p:nvPicPr>
          <p:cNvPr id="49" name="Picture 48"/>
          <p:cNvPicPr/>
          <p:nvPr/>
        </p:nvPicPr>
        <p:blipFill>
          <a:blip r:embed="rId5"/>
          <a:stretch>
            <a:fillRect/>
          </a:stretch>
        </p:blipFill>
        <p:spPr>
          <a:xfrm>
            <a:off x="7720330" y="3907790"/>
            <a:ext cx="4471035" cy="2950210"/>
          </a:xfrm>
          <a:prstGeom prst="rect">
            <a:avLst/>
          </a:prstGeom>
        </p:spPr>
      </p:pic>
      <p:cxnSp>
        <p:nvCxnSpPr>
          <p:cNvPr id="55" name="Straight Connector 54"/>
          <p:cNvCxnSpPr/>
          <p:nvPr/>
        </p:nvCxnSpPr>
        <p:spPr>
          <a:xfrm>
            <a:off x="3338171" y="558681"/>
            <a:ext cx="551561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95580"/>
            <a:ext cx="10972800" cy="1143000"/>
          </a:xfrm>
        </p:spPr>
        <p:txBody>
          <a:bodyPr/>
          <a:p>
            <a:pPr eaLnBrk="1" hangingPunct="1"/>
            <a:r>
              <a:rPr lang="en-US" sz="3200" dirty="0">
                <a:solidFill>
                  <a:srgbClr val="1FA1D1"/>
                </a:solidFill>
                <a:latin typeface="Algerian" panose="04020705040A02060702" pitchFamily="82" charset="0"/>
                <a:ea typeface="MS PGothic" panose="020B0600070205080204" pitchFamily="1" charset="-128"/>
                <a:cs typeface="Algerian" panose="04020705040A02060702" pitchFamily="82" charset="0"/>
              </a:rPr>
              <a:t>IMPACT AND BENEFITS</a:t>
            </a:r>
            <a:endParaRPr lang="en-US" sz="3200" dirty="0">
              <a:solidFill>
                <a:srgbClr val="1FA1D1"/>
              </a:solidFill>
              <a:latin typeface="Algerian" panose="04020705040A02060702" pitchFamily="82" charset="0"/>
              <a:ea typeface="MS PGothic" panose="020B0600070205080204" pitchFamily="1" charset="-128"/>
              <a:cs typeface="Algerian" panose="04020705040A02060702" pitchFamily="82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3915386" y="610751"/>
            <a:ext cx="433641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" name="Arrow: Pentagon 19"/>
          <p:cNvSpPr/>
          <p:nvPr>
            <p:custDataLst>
              <p:tags r:id="rId1"/>
            </p:custDataLst>
          </p:nvPr>
        </p:nvSpPr>
        <p:spPr>
          <a:xfrm>
            <a:off x="934627" y="1261984"/>
            <a:ext cx="2563819" cy="636053"/>
          </a:xfrm>
          <a:prstGeom prst="homePlat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24/7 Availiabilty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sp>
        <p:nvSpPr>
          <p:cNvPr id="12" name="Arrow: Pentagon 19"/>
          <p:cNvSpPr/>
          <p:nvPr>
            <p:custDataLst>
              <p:tags r:id="rId2"/>
            </p:custDataLst>
          </p:nvPr>
        </p:nvSpPr>
        <p:spPr>
          <a:xfrm>
            <a:off x="933992" y="2064624"/>
            <a:ext cx="2563819" cy="636053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Effective Data Analysis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sp>
        <p:nvSpPr>
          <p:cNvPr id="17" name="Arrow: Pentagon 19"/>
          <p:cNvSpPr/>
          <p:nvPr>
            <p:custDataLst>
              <p:tags r:id="rId3"/>
            </p:custDataLst>
          </p:nvPr>
        </p:nvSpPr>
        <p:spPr>
          <a:xfrm>
            <a:off x="934627" y="2867264"/>
            <a:ext cx="2563819" cy="636053"/>
          </a:xfrm>
          <a:prstGeom prst="homePlat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Reduced Manual Workload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sp>
        <p:nvSpPr>
          <p:cNvPr id="13" name="Arrow: Pentagon 19"/>
          <p:cNvSpPr/>
          <p:nvPr>
            <p:custDataLst>
              <p:tags r:id="rId4"/>
            </p:custDataLst>
          </p:nvPr>
        </p:nvSpPr>
        <p:spPr>
          <a:xfrm>
            <a:off x="934627" y="3669904"/>
            <a:ext cx="2563819" cy="636053"/>
          </a:xfrm>
          <a:prstGeom prst="homePlate">
            <a:avLst/>
          </a:prstGeom>
          <a:solidFill>
            <a:srgbClr val="FFFD4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Cost-Effective Project Evaluation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sp>
        <p:nvSpPr>
          <p:cNvPr id="15" name="Arrow: Pentagon 19"/>
          <p:cNvSpPr/>
          <p:nvPr>
            <p:custDataLst>
              <p:tags r:id="rId5"/>
            </p:custDataLst>
          </p:nvPr>
        </p:nvSpPr>
        <p:spPr>
          <a:xfrm>
            <a:off x="932722" y="4472544"/>
            <a:ext cx="2563819" cy="636053"/>
          </a:xfrm>
          <a:prstGeom prst="homePlate">
            <a:avLst/>
          </a:prstGeom>
          <a:solidFill>
            <a:srgbClr val="64F5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Actionable Data &amp; Insights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sp>
        <p:nvSpPr>
          <p:cNvPr id="18" name="Arrow: Pentagon 19"/>
          <p:cNvSpPr/>
          <p:nvPr>
            <p:custDataLst>
              <p:tags r:id="rId6"/>
            </p:custDataLst>
          </p:nvPr>
        </p:nvSpPr>
        <p:spPr>
          <a:xfrm>
            <a:off x="932087" y="5275184"/>
            <a:ext cx="2563819" cy="636053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User-Friendly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sp>
        <p:nvSpPr>
          <p:cNvPr id="19" name="Arrow: Pentagon 19"/>
          <p:cNvSpPr/>
          <p:nvPr>
            <p:custDataLst>
              <p:tags r:id="rId7"/>
            </p:custDataLst>
          </p:nvPr>
        </p:nvSpPr>
        <p:spPr>
          <a:xfrm>
            <a:off x="934627" y="6077824"/>
            <a:ext cx="2563819" cy="636053"/>
          </a:xfrm>
          <a:prstGeom prst="homePlat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2000" b="1">
                <a:solidFill>
                  <a:schemeClr val="tx1"/>
                </a:solidFill>
              </a:rPr>
              <a:t>Scalable </a:t>
            </a:r>
            <a:endParaRPr lang="en-US" altLang="en-US" sz="2000" b="1">
              <a:solidFill>
                <a:schemeClr val="tx1"/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62560" y="5953760"/>
            <a:ext cx="633095" cy="57467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56845" y="5259705"/>
            <a:ext cx="596265" cy="59626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156845" y="4486910"/>
            <a:ext cx="638810" cy="67500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83185" y="3677920"/>
            <a:ext cx="651510" cy="59309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3185" y="2893060"/>
            <a:ext cx="637540" cy="56896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34620" y="2062480"/>
            <a:ext cx="586105" cy="58610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34620" y="1245870"/>
            <a:ext cx="661035" cy="63436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134620" y="71913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sz="2400" b="1" u="sng">
                <a:solidFill>
                  <a:srgbClr val="1FA1D1"/>
                </a:solidFill>
                <a:latin typeface="Times New Roman" panose="02020603050405020304" pitchFamily="18" charset="0"/>
                <a:ea typeface="Arimo-Bold"/>
                <a:cs typeface="Times New Roman" panose="02020603050405020304" pitchFamily="18" charset="0"/>
              </a:rPr>
              <a:t>Benefits</a:t>
            </a:r>
            <a:r>
              <a:rPr lang="en-US" sz="2400" b="1" u="sng">
                <a:solidFill>
                  <a:srgbClr val="1FA1D1"/>
                </a:solidFill>
                <a:latin typeface="Times New Roman" panose="02020603050405020304" pitchFamily="18" charset="0"/>
                <a:ea typeface="Arimo-Bold"/>
                <a:cs typeface="Times New Roman" panose="02020603050405020304" pitchFamily="18" charset="0"/>
              </a:rPr>
              <a:t>:</a:t>
            </a:r>
            <a:endParaRPr lang="en-US" sz="2400" b="1" u="sng">
              <a:solidFill>
                <a:srgbClr val="1FA1D1"/>
              </a:solidFill>
              <a:latin typeface="Times New Roman" panose="02020603050405020304" pitchFamily="18" charset="0"/>
              <a:ea typeface="Arimo-Bold"/>
              <a:cs typeface="Times New Roman" panose="02020603050405020304" pitchFamily="18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4621530" y="786130"/>
            <a:ext cx="685038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sz="2400" b="1" u="sng">
                <a:solidFill>
                  <a:srgbClr val="1FA1D1"/>
                </a:solidFill>
                <a:latin typeface="Times New Roman" panose="02020603050405020304" pitchFamily="18" charset="0"/>
                <a:ea typeface="Arimo-Bold"/>
                <a:cs typeface="Times New Roman" panose="02020603050405020304" pitchFamily="18" charset="0"/>
              </a:rPr>
              <a:t>Potential Impact on the Targeted</a:t>
            </a:r>
            <a:r>
              <a:rPr lang="en-US" sz="2400" b="1" u="sng">
                <a:solidFill>
                  <a:srgbClr val="1FA1D1"/>
                </a:solidFill>
                <a:latin typeface="Times New Roman" panose="02020603050405020304" pitchFamily="18" charset="0"/>
                <a:ea typeface="Arimo-Bold"/>
                <a:cs typeface="Times New Roman" panose="02020603050405020304" pitchFamily="18" charset="0"/>
              </a:rPr>
              <a:t> </a:t>
            </a:r>
            <a:r>
              <a:rPr sz="2400" b="1" u="sng">
                <a:solidFill>
                  <a:srgbClr val="1FA1D1"/>
                </a:solidFill>
                <a:latin typeface="Times New Roman" panose="02020603050405020304" pitchFamily="18" charset="0"/>
                <a:ea typeface="Arimo-Bold"/>
                <a:cs typeface="Times New Roman" panose="02020603050405020304" pitchFamily="18" charset="0"/>
              </a:rPr>
              <a:t>Audience</a:t>
            </a:r>
            <a:r>
              <a:rPr lang="en-US" sz="2400" b="1" u="sng">
                <a:solidFill>
                  <a:srgbClr val="1FA1D1"/>
                </a:solidFill>
                <a:latin typeface="Times New Roman" panose="02020603050405020304" pitchFamily="18" charset="0"/>
                <a:ea typeface="Arimo-Bold"/>
                <a:cs typeface="Times New Roman" panose="02020603050405020304" pitchFamily="18" charset="0"/>
              </a:rPr>
              <a:t>:</a:t>
            </a:r>
            <a:endParaRPr lang="en-US" sz="2400" b="1" u="sng">
              <a:solidFill>
                <a:srgbClr val="1FA1D1"/>
              </a:solidFill>
              <a:latin typeface="Times New Roman" panose="02020603050405020304" pitchFamily="18" charset="0"/>
              <a:ea typeface="Arimo-Bold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905375" y="136080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Candidates / Students:</a:t>
            </a: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Personalized career paths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Higher job readiness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Access in rural areas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Better employment outcomes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998720" y="314515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Experts / Counselors:</a:t>
            </a: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Data-driven insights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Wider student reach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Reduced manual effort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Stronger mentoring role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98720" y="510857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Policymakers / Institutions:</a:t>
            </a:r>
            <a:endParaRPr lang="en-US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Real-time skill gap insights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Data-based policy making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Improved education outcomes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329430" y="64135"/>
            <a:ext cx="609600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4400">
                <a:solidFill>
                  <a:srgbClr val="39B0D4"/>
                </a:solidFill>
                <a:latin typeface="Algerian" panose="04020705040A02060702" pitchFamily="82" charset="0"/>
                <a:ea typeface="Calibri" panose="020F0502020204030204"/>
                <a:cs typeface="Algerian" panose="04020705040A02060702" pitchFamily="82" charset="0"/>
                <a:sym typeface="Calibri" panose="020F0502020204030204"/>
              </a:rPr>
              <a:t>Testing</a:t>
            </a:r>
            <a:endParaRPr lang="en-US" sz="4400">
              <a:solidFill>
                <a:srgbClr val="39B0D4"/>
              </a:solidFill>
              <a:latin typeface="Algerian" panose="04020705040A02060702" pitchFamily="82" charset="0"/>
              <a:ea typeface="Calibri" panose="020F0502020204030204"/>
              <a:cs typeface="Algerian" panose="04020705040A02060702" pitchFamily="82" charset="0"/>
              <a:sym typeface="Calibri" panose="020F0502020204030204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4432911" y="714891"/>
            <a:ext cx="225742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216535" y="1048703"/>
            <a:ext cx="5080000" cy="180213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spcAft>
                <a:spcPct val="60000"/>
              </a:spcAft>
              <a:buFont typeface="Wingdings" panose="05000000000000000000" charset="0"/>
              <a:buChar char="v"/>
            </a:pPr>
            <a:r>
              <a:rPr sz="2000" b="1" u="sng">
                <a:solidFill>
                  <a:srgbClr val="39B0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 Execute</a:t>
            </a:r>
            <a:r>
              <a:rPr lang="en-US" sz="2000" b="1" u="sng">
                <a:solidFill>
                  <a:srgbClr val="39B0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US" sz="2000" b="1" u="sng">
              <a:solidFill>
                <a:srgbClr val="39B0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Tested all core modules and features.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Verified accuracy, reliability, and performance.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endParaRPr sz="18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59385" y="2927985"/>
            <a:ext cx="5304790" cy="14338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spcAft>
                <a:spcPct val="60000"/>
              </a:spcAft>
              <a:buFont typeface="Wingdings" panose="05000000000000000000" charset="0"/>
              <a:buChar char="v"/>
            </a:pPr>
            <a:r>
              <a:rPr sz="2000" b="1" u="sng">
                <a:solidFill>
                  <a:srgbClr val="39B0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Results</a:t>
            </a:r>
            <a:endParaRPr sz="2000" b="1" u="sng">
              <a:solidFill>
                <a:srgbClr val="39B0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Conducted on frontend, backend, and ML modules.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Verified individual functionality and logic.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16535" y="4700588"/>
            <a:ext cx="5080000" cy="1433830"/>
          </a:xfrm>
          <a:prstGeom prst="rect">
            <a:avLst/>
          </a:prstGeom>
        </p:spPr>
        <p:txBody>
          <a:bodyPr>
            <a:spAutoFit/>
          </a:bodyPr>
          <a:p>
            <a:pPr marL="285750" indent="-285750">
              <a:spcAft>
                <a:spcPct val="60000"/>
              </a:spcAft>
              <a:buFont typeface="Wingdings" panose="05000000000000000000" charset="0"/>
              <a:buChar char="v"/>
            </a:pPr>
            <a:r>
              <a:rPr sz="2000" b="1" u="sng">
                <a:solidFill>
                  <a:srgbClr val="39B0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Results</a:t>
            </a:r>
            <a:endParaRPr sz="2000" b="1" u="sng">
              <a:solidFill>
                <a:srgbClr val="39B0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flow between all modules.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Ensured smooth communication and stability.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329045" y="1049020"/>
            <a:ext cx="5720715" cy="198755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spcAft>
                <a:spcPct val="60000"/>
              </a:spcAft>
              <a:buFont typeface="Wingdings" panose="05000000000000000000" charset="0"/>
              <a:buChar char="v"/>
            </a:pPr>
            <a:r>
              <a:rPr sz="2000" b="1" u="sng">
                <a:solidFill>
                  <a:srgbClr val="39B0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Validation Outcomes</a:t>
            </a:r>
            <a:endParaRPr sz="2000" b="1" u="sng">
              <a:solidFill>
                <a:srgbClr val="39B0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Verified system meets all design requirements.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Validated through real-world user scenarios.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System proved accurate, scalable, and user-friendly.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425430" y="6645275"/>
            <a:ext cx="813435" cy="2127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1"/>
          <a:srcRect l="6710" t="4404" r="6976" b="2578"/>
          <a:stretch>
            <a:fillRect/>
          </a:stretch>
        </p:blipFill>
        <p:spPr>
          <a:xfrm>
            <a:off x="5644515" y="3223260"/>
            <a:ext cx="6433185" cy="354774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362200" y="-10160"/>
            <a:ext cx="77355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000">
                <a:solidFill>
                  <a:srgbClr val="39B0D4"/>
                </a:solidFill>
                <a:latin typeface="Algerian" panose="04020705040A02060702" pitchFamily="82" charset="0"/>
                <a:ea typeface="Calibri" panose="020F0502020204030204"/>
                <a:cs typeface="Algerian" panose="04020705040A02060702" pitchFamily="82" charset="0"/>
                <a:sym typeface="Calibri" panose="020F0502020204030204"/>
              </a:rPr>
              <a:t>Future Enhancements</a:t>
            </a:r>
            <a:endParaRPr lang="en-US" sz="4000">
              <a:solidFill>
                <a:srgbClr val="39B0D4"/>
              </a:solidFill>
              <a:latin typeface="Algerian" panose="04020705040A02060702" pitchFamily="82" charset="0"/>
              <a:ea typeface="Calibri" panose="020F0502020204030204"/>
              <a:cs typeface="Algerian" panose="04020705040A02060702" pitchFamily="82" charset="0"/>
              <a:sym typeface="Calibri" panose="020F0502020204030204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3336266" y="557411"/>
            <a:ext cx="575310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7930" y="2983865"/>
            <a:ext cx="5894070" cy="387413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97790" y="955040"/>
            <a:ext cx="6096000" cy="10814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191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Wingdings" panose="05000000000000000000" charset="0"/>
              <a:buChar char="v"/>
            </a:pPr>
            <a:r>
              <a:rPr lang="en-US" sz="20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Scope for Improvement</a:t>
            </a:r>
            <a:endParaRPr lang="en-US" sz="20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19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Improve model accuracy with </a:t>
            </a:r>
            <a:r>
              <a:rPr lang="en-US" altLang="en-US" sz="18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larger datasets.</a:t>
            </a:r>
            <a:endParaRPr lang="en-US" altLang="en-US" sz="18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1950" marR="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Enhance </a:t>
            </a:r>
            <a:r>
              <a:rPr lang="en-US" altLang="en-US" sz="18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interface</a:t>
            </a:r>
            <a:r>
              <a:rPr lang="en-US" altLang="en-US" sz="18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better</a:t>
            </a:r>
            <a:r>
              <a:rPr lang="en-US" altLang="en-US" sz="18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accessibility.</a:t>
            </a:r>
            <a:endParaRPr lang="en-US" altLang="en-US" sz="18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97790" y="2726690"/>
            <a:ext cx="6389370" cy="12299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sz="20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Phase Plans</a:t>
            </a:r>
            <a:endParaRPr sz="20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Launch beta version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testing in select colleges.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Collect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for refinement.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Deploy cloud-based dashboards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institutions &amp; counselors.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73025" y="4646930"/>
            <a:ext cx="6726555" cy="122999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sz="20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Applications</a:t>
            </a:r>
            <a:endParaRPr sz="20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Nationwide career guidance and scholarship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tracking platform.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government education portals.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 for future skill demand trends.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297930" y="988060"/>
            <a:ext cx="5958840" cy="150685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Wingdings" panose="05000000000000000000" charset="0"/>
              <a:buChar char="v"/>
            </a:pPr>
            <a:r>
              <a:rPr sz="20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Ideas for Further Development</a:t>
            </a:r>
            <a:endParaRPr sz="2000" b="1" u="sng">
              <a:solidFill>
                <a:srgbClr val="1FA1D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Introduce personalized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career growth tracking.</a:t>
            </a: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AI-driven internship and job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matching.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 with gamified learning and mentorship features.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928620" y="18224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 sz="4000">
                <a:solidFill>
                  <a:srgbClr val="39B0D4"/>
                </a:solidFill>
                <a:latin typeface="Algerian" panose="04020705040A02060702" pitchFamily="82" charset="0"/>
                <a:ea typeface="Calibri" panose="020F0502020204030204"/>
                <a:cs typeface="Algerian" panose="04020705040A02060702" pitchFamily="82" charset="0"/>
                <a:sym typeface="Calibri" panose="020F0502020204030204"/>
              </a:rPr>
              <a:t>Conclusion</a:t>
            </a:r>
            <a:endParaRPr lang="en-US" sz="4000">
              <a:solidFill>
                <a:srgbClr val="39B0D4"/>
              </a:solidFill>
              <a:latin typeface="Algerian" panose="04020705040A02060702" pitchFamily="82" charset="0"/>
              <a:ea typeface="Calibri" panose="020F0502020204030204"/>
              <a:cs typeface="Algerian" panose="04020705040A02060702" pitchFamily="82" charset="0"/>
              <a:sym typeface="Calibri" panose="020F0502020204030204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417671" y="756166"/>
            <a:ext cx="311785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2766060" y="1635125"/>
            <a:ext cx="7137400" cy="16300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buNone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AI-based personalized career guidance.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Bridges the gap between students and opportunities.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accessibility, accuracy, and real-time support.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1917065" y="1288415"/>
            <a:ext cx="8357870" cy="533844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4917440" y="1826895"/>
            <a:ext cx="2370455" cy="497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solidFill>
                  <a:srgbClr val="1FA1D1"/>
                </a:solidFill>
                <a:latin typeface="Algerian" panose="04020705040A02060702" pitchFamily="82" charset="0"/>
                <a:ea typeface="MS PGothic" panose="020B0600070205080204" pitchFamily="1" charset="-128"/>
                <a:cs typeface="Algerian" panose="04020705040A02060702" pitchFamily="82" charset="0"/>
              </a:rPr>
              <a:t>RESEARCH  AND REFERENCES</a:t>
            </a:r>
            <a:endParaRPr lang="en-US" sz="3200" dirty="0">
              <a:solidFill>
                <a:srgbClr val="1FA1D1"/>
              </a:solidFill>
              <a:latin typeface="Algerian" panose="04020705040A02060702" pitchFamily="82" charset="0"/>
              <a:ea typeface="MS PGothic" panose="020B0600070205080204" pitchFamily="1" charset="-128"/>
              <a:cs typeface="Algerian" panose="04020705040A02060702" pitchFamily="82" charset="0"/>
            </a:endParaRPr>
          </a:p>
        </p:txBody>
      </p:sp>
      <p:sp>
        <p:nvSpPr>
          <p:cNvPr id="3" name="Text Box 2">
            <a:hlinkClick r:id="rId1" action="ppaction://hlinkfile"/>
          </p:cNvPr>
          <p:cNvSpPr txBox="1"/>
          <p:nvPr/>
        </p:nvSpPr>
        <p:spPr>
          <a:xfrm>
            <a:off x="299720" y="1042670"/>
            <a:ext cx="645541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Research  &amp; Best Practices:</a:t>
            </a:r>
            <a:endParaRPr lang="en-US" altLang="en-US" sz="2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2" action="ppaction://hlinkfile"/>
              </a:rPr>
              <a:t>Career guidance using decision trees</a:t>
            </a:r>
            <a:endParaRPr lang="en-US" altLang="en-US" sz="2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The role of Technology in Career Counseling in India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Economic Benefits of Career Guidance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file"/>
              </a:rPr>
              <a:t>AI-Powered Career Counseling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6" action="ppaction://hlinkfile"/>
              </a:rPr>
              <a:t>Machine Learning in Education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99720" y="2954655"/>
            <a:ext cx="38017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Facts: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7" action="ppaction://hlinkfile"/>
              </a:rPr>
              <a:t>TRAI 2023 report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hlinkClick r:id="rId8" action="ppaction://hlinkfile"/>
              </a:rPr>
              <a:t>Deloitte 2022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09600" y="4225925"/>
            <a:ext cx="2324735" cy="5073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632460" y="4334510"/>
            <a:ext cx="2301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3479800" y="4225925"/>
            <a:ext cx="2473960" cy="5073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5662930" y="5179060"/>
            <a:ext cx="2324735" cy="5073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3479800" y="6132830"/>
            <a:ext cx="2473960" cy="5073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632460" y="6132830"/>
            <a:ext cx="2324735" cy="5073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3524885" y="4295775"/>
            <a:ext cx="2428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662930" y="5248910"/>
            <a:ext cx="2616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Study Existing System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3479800" y="62020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Proposed System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755015" y="6210935"/>
            <a:ext cx="220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Deployed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/>
          <p:cNvCxnSpPr>
            <a:stCxn id="12" idx="3"/>
          </p:cNvCxnSpPr>
          <p:nvPr/>
        </p:nvCxnSpPr>
        <p:spPr>
          <a:xfrm>
            <a:off x="2934335" y="4518660"/>
            <a:ext cx="54546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2934335" y="6415405"/>
            <a:ext cx="545465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7" idx="3"/>
          </p:cNvCxnSpPr>
          <p:nvPr/>
        </p:nvCxnSpPr>
        <p:spPr>
          <a:xfrm>
            <a:off x="5953760" y="4479925"/>
            <a:ext cx="80137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755130" y="4482465"/>
            <a:ext cx="0" cy="70739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6755130" y="5676265"/>
            <a:ext cx="15240" cy="72453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5953760" y="6386195"/>
            <a:ext cx="81661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1597025" y="5083175"/>
            <a:ext cx="3562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Workflow</a:t>
            </a:r>
            <a:endParaRPr lang="en-US" sz="2400" b="1" u="sng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/>
          <p:cNvPicPr/>
          <p:nvPr/>
        </p:nvPicPr>
        <p:blipFill>
          <a:blip r:embed="rId9"/>
          <a:stretch>
            <a:fillRect/>
          </a:stretch>
        </p:blipFill>
        <p:spPr>
          <a:xfrm>
            <a:off x="1597025" y="4020185"/>
            <a:ext cx="344805" cy="280670"/>
          </a:xfrm>
          <a:prstGeom prst="rect">
            <a:avLst/>
          </a:prstGeom>
        </p:spPr>
      </p:pic>
      <p:pic>
        <p:nvPicPr>
          <p:cNvPr id="31" name="Picture 30"/>
          <p:cNvPicPr/>
          <p:nvPr/>
        </p:nvPicPr>
        <p:blipFill>
          <a:blip r:embed="rId9"/>
          <a:stretch>
            <a:fillRect/>
          </a:stretch>
        </p:blipFill>
        <p:spPr>
          <a:xfrm>
            <a:off x="4566920" y="4020185"/>
            <a:ext cx="344805" cy="280670"/>
          </a:xfrm>
          <a:prstGeom prst="rect">
            <a:avLst/>
          </a:prstGeom>
        </p:spPr>
      </p:pic>
      <p:pic>
        <p:nvPicPr>
          <p:cNvPr id="32" name="Picture 31"/>
          <p:cNvPicPr/>
          <p:nvPr/>
        </p:nvPicPr>
        <p:blipFill>
          <a:blip r:embed="rId9"/>
          <a:stretch>
            <a:fillRect/>
          </a:stretch>
        </p:blipFill>
        <p:spPr>
          <a:xfrm>
            <a:off x="6588760" y="4968240"/>
            <a:ext cx="344805" cy="280670"/>
          </a:xfrm>
          <a:prstGeom prst="rect">
            <a:avLst/>
          </a:prstGeom>
        </p:spPr>
      </p:pic>
      <p:pic>
        <p:nvPicPr>
          <p:cNvPr id="33" name="Picture 32"/>
          <p:cNvPicPr/>
          <p:nvPr/>
        </p:nvPicPr>
        <p:blipFill>
          <a:blip r:embed="rId9"/>
          <a:stretch>
            <a:fillRect/>
          </a:stretch>
        </p:blipFill>
        <p:spPr>
          <a:xfrm>
            <a:off x="4566920" y="5962650"/>
            <a:ext cx="344805" cy="280670"/>
          </a:xfrm>
          <a:prstGeom prst="rect">
            <a:avLst/>
          </a:prstGeom>
        </p:spPr>
      </p:pic>
      <p:pic>
        <p:nvPicPr>
          <p:cNvPr id="34" name="Picture 33"/>
          <p:cNvPicPr/>
          <p:nvPr/>
        </p:nvPicPr>
        <p:blipFill>
          <a:blip r:embed="rId9"/>
          <a:stretch>
            <a:fillRect/>
          </a:stretch>
        </p:blipFill>
        <p:spPr>
          <a:xfrm>
            <a:off x="1597025" y="5923915"/>
            <a:ext cx="344805" cy="28067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301740" y="1363345"/>
            <a:ext cx="5280660" cy="48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 u="sng">
                <a:solidFill>
                  <a:srgbClr val="1FA1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 Facts for Feasibility and Viability</a:t>
            </a:r>
            <a:endParaRPr lang="en-US" altLang="en-US" sz="2000" b="1" u="sng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u="sng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b="1" u="sng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954395" y="184721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Clr>
                <a:srgbClr val="1FA1D1"/>
              </a:buClr>
              <a:buFont typeface="Wingdings" panose="05000000000000000000" charset="0"/>
              <a:buChar char="ü"/>
            </a:pPr>
            <a:r>
              <a:rPr lang="en-US" dirty="0">
                <a:sym typeface="+mn-ea"/>
              </a:rPr>
              <a:t>As per </a:t>
            </a:r>
            <a:r>
              <a:rPr lang="en-US" altLang="en-US" dirty="0">
                <a:sym typeface="+mn-ea"/>
              </a:rPr>
              <a:t>NITI Aayog 2022 survey, 82% rural students lack guidance</a:t>
            </a:r>
            <a:endParaRPr lang="en-US" altLang="en-US" dirty="0"/>
          </a:p>
          <a:p>
            <a:pPr marL="285750" indent="-285750">
              <a:buClr>
                <a:srgbClr val="1FA1D1"/>
              </a:buClr>
              <a:buFont typeface="Wingdings" panose="05000000000000000000" charset="0"/>
              <a:buChar char="ü"/>
            </a:pPr>
            <a:r>
              <a:rPr lang="en-US" altLang="en-US" dirty="0">
                <a:sym typeface="+mn-ea"/>
              </a:rPr>
              <a:t>As per Deloitte 2022, 67% of students prefer hybrid learning models, supporting AI + human mentorship.</a:t>
            </a:r>
            <a:endParaRPr lang="en-US" altLang="en-US" dirty="0">
              <a:sym typeface="+mn-ea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3338171" y="729496"/>
            <a:ext cx="5515610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Rectangles 7"/>
          <p:cNvSpPr/>
          <p:nvPr/>
        </p:nvSpPr>
        <p:spPr>
          <a:xfrm>
            <a:off x="5953760" y="1308735"/>
            <a:ext cx="6096635" cy="1703070"/>
          </a:xfrm>
          <a:prstGeom prst="rect">
            <a:avLst/>
          </a:prstGeom>
          <a:noFill/>
          <a:ln w="6350"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190" y="2286000"/>
            <a:ext cx="10972800" cy="1143000"/>
          </a:xfrm>
        </p:spPr>
        <p:txBody>
          <a:bodyPr/>
          <a:p>
            <a:r>
              <a:rPr lang="en-US" sz="6000">
                <a:solidFill>
                  <a:srgbClr val="1FA1D1"/>
                </a:solidFill>
                <a:latin typeface="Algerian" panose="04020705040A02060702" pitchFamily="82" charset="0"/>
                <a:cs typeface="Algerian" panose="04020705040A02060702" pitchFamily="82" charset="0"/>
              </a:rPr>
              <a:t>THANK YOU</a:t>
            </a:r>
            <a:endParaRPr lang="en-US" sz="6000">
              <a:solidFill>
                <a:srgbClr val="1FA1D1"/>
              </a:solidFill>
              <a:latin typeface="Algerian" panose="04020705040A02060702" pitchFamily="82" charset="0"/>
              <a:cs typeface="Algerian" panose="04020705040A02060702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4044291" y="3222506"/>
            <a:ext cx="463232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49*442"/>
  <p:tag name="TABLE_ENDDRAG_RECT" val="20*80*549*442"/>
</p:tagLst>
</file>

<file path=ppt/tags/tag2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3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4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5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6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7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8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9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10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11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12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13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14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ags/tag15.xml><?xml version="1.0" encoding="utf-8"?>
<p:tagLst xmlns:p="http://schemas.openxmlformats.org/presentationml/2006/main">
  <p:tag name="KSO_WM_DIAGRAM_VIRTUALLY_FRAME" val="{&quot;height&quot;:430.55173228346456,&quot;left&quot;:6.55,&quot;top&quot;:98.1,&quot;width&quot;:76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6573</Words>
  <Application>WPS Presentation</Application>
  <PresentationFormat>Widescreen</PresentationFormat>
  <Paragraphs>395</Paragraphs>
  <Slides>13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MS PGothic</vt:lpstr>
      <vt:lpstr>TradeGothic</vt:lpstr>
      <vt:lpstr>Segoe Print</vt:lpstr>
      <vt:lpstr>TradeGothic</vt:lpstr>
      <vt:lpstr>Arial</vt:lpstr>
      <vt:lpstr>Garamond</vt:lpstr>
      <vt:lpstr>Algerian</vt:lpstr>
      <vt:lpstr>Wingdings</vt:lpstr>
      <vt:lpstr>Times New Roman</vt:lpstr>
      <vt:lpstr>Alfa Slab One</vt:lpstr>
      <vt:lpstr>Calibri</vt:lpstr>
      <vt:lpstr>Arimo-Bold</vt:lpstr>
      <vt:lpstr>Microsoft YaHei</vt:lpstr>
      <vt:lpstr>Arial Unicode MS</vt:lpstr>
      <vt:lpstr>Office Theme</vt:lpstr>
      <vt:lpstr>	MITIGATING EDUCATIONAL UNCERTAINITY WITH MACHINE INTELLIGENCE IN STUDENT ADVISING</vt:lpstr>
      <vt:lpstr>PowerPoint 演示文稿</vt:lpstr>
      <vt:lpstr>Problem Statement</vt:lpstr>
      <vt:lpstr> SOLUTION</vt:lpstr>
      <vt:lpstr>TECHNICAL APPROACH</vt:lpstr>
      <vt:lpstr>PowerPoint 演示文稿</vt:lpstr>
      <vt:lpstr>FEASIBILITY AND VIABILITY</vt:lpstr>
      <vt:lpstr>IMPACT AND BENEFITS</vt:lpstr>
      <vt:lpstr>PowerPoint 演示文稿</vt:lpstr>
      <vt:lpstr>PowerPoint 演示文稿</vt:lpstr>
      <vt:lpstr>PowerPoint 演示文稿</vt:lpstr>
      <vt:lpstr>RESEARCH  AND REFERENCES</vt:lpstr>
      <vt:lpstr>THANK YOU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Prakrati Mishra</cp:lastModifiedBy>
  <cp:revision>241</cp:revision>
  <dcterms:created xsi:type="dcterms:W3CDTF">2013-12-12T18:46:00Z</dcterms:created>
  <dcterms:modified xsi:type="dcterms:W3CDTF">2025-11-02T14:41:09Z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6C8A7D3D0F36466B87D47DAA97E9F889_13</vt:lpwstr>
  </property>
  <property fmtid="{D5CDD505-2E9C-101B-9397-08002B2CF9AE}" pid="3" name="KSOProductBuildVer">
    <vt:lpwstr>1033-12.2.0.23131</vt:lpwstr>
  </property>
</Properties>
</file>